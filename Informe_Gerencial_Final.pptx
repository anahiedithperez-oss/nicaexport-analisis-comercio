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FCC1E-0727-4F78-9012-31008D61737F}" v="44" dt="2026-09-16T04:59:16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FOB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D1F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EE.UU.</c:v>
                </c:pt>
                <c:pt idx="1">
                  <c:v>España</c:v>
                </c:pt>
                <c:pt idx="2">
                  <c:v>México</c:v>
                </c:pt>
                <c:pt idx="3">
                  <c:v>Guatemala</c:v>
                </c:pt>
                <c:pt idx="4">
                  <c:v>Costa 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168745</c:v>
                </c:pt>
                <c:pt idx="1">
                  <c:v>136328</c:v>
                </c:pt>
                <c:pt idx="2">
                  <c:v>120313</c:v>
                </c:pt>
                <c:pt idx="3">
                  <c:v>119335</c:v>
                </c:pt>
                <c:pt idx="4">
                  <c:v>113544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D1-4906-8B22-2C1139BF96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Utilidad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D1F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Café especial</c:v>
                </c:pt>
                <c:pt idx="1">
                  <c:v>Aceite de ajonjolí</c:v>
                </c:pt>
                <c:pt idx="2">
                  <c:v>Miel natural</c:v>
                </c:pt>
                <c:pt idx="3">
                  <c:v>Cacao en grano</c:v>
                </c:pt>
                <c:pt idx="4">
                  <c:v>Maní procesado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62832</c:v>
                </c:pt>
                <c:pt idx="1">
                  <c:v>42218</c:v>
                </c:pt>
                <c:pt idx="2">
                  <c:v>38688</c:v>
                </c:pt>
                <c:pt idx="3">
                  <c:v>36800</c:v>
                </c:pt>
                <c:pt idx="4">
                  <c:v>33534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2F-49F3-B54C-A1955014E1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Rentabilidad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005-43F9-A1AB-8467402328E5}"/>
              </c:ext>
            </c:extLst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05-43F9-A1AB-8467402328E5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005-43F9-A1AB-8467402328E5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05-43F9-A1AB-8467402328E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Alta</c:v>
                </c:pt>
                <c:pt idx="1">
                  <c:v>Media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005-43F9-A1AB-846740232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D1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2BC74-DA44-4773-B516-92BDE2A6C815}" type="datetimeFigureOut">
              <a:t>15/09/2026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408FB-CC93-4946-B44B-2CE9C500CF4C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862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3A7A3B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389120"/>
            <a:ext cx="2926080" cy="2926080"/>
          </a:xfrm>
          <a:prstGeom prst="ellipse">
            <a:avLst/>
          </a:prstGeom>
          <a:solidFill>
            <a:srgbClr val="3A7A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y Análisis de Operaciones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Comercio Internacional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NicaExport Trading, S.A.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 err="1">
                <a:solidFill>
                  <a:srgbClr val="CADCC4"/>
                </a:solidFill>
                <a:latin typeface="Calibri"/>
                <a:ea typeface="Calibri"/>
                <a:cs typeface="Calibri"/>
              </a:rPr>
              <a:t>Integrantes</a:t>
            </a:r>
            <a:r>
              <a:rPr lang="en-US" sz="1400" dirty="0">
                <a:solidFill>
                  <a:srgbClr val="CADCC4"/>
                </a:solidFill>
                <a:latin typeface="Calibri"/>
                <a:ea typeface="Calibri"/>
                <a:cs typeface="Calibri"/>
              </a:rPr>
              <a:t>: Anahi Perez  •  Alida Soto  • Jorleni Velasquez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Internacionales / Tecnologías de Gestión de Información — Universidad Americana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Situación y objetivo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situación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exporta productos agroindustriales nicaragüenses hacia 5 mercados internacionales. Durante el primer semestre de 2026 acumuló un volumen considerable de operaciones, pero la información se encontraba dispersa, sin convertirse aún en decisiones comerciales concretas.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analizados: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51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 · México · Guatemala · Costa Rica · España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205740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0391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mercados y productos más importantes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97180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953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qué operaciones generan mayor ingreso y margen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88620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8679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la prioridad comercial de cada operación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80060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6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7823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los datos dispersos en decisiones accionables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Análisis Comercial Internacional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operaciones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semestre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10896" y="1920240"/>
            <a:ext cx="2651760" cy="2377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10896" y="21488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10896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82696" y="1920240"/>
            <a:ext cx="2651760" cy="2377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82696" y="21488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282696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54496" y="1920240"/>
            <a:ext cx="2651760" cy="2377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54496" y="21488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26296" y="1920240"/>
            <a:ext cx="2651760" cy="2377440"/>
          </a:xfrm>
          <a:prstGeom prst="rect">
            <a:avLst/>
          </a:prstGeom>
          <a:solidFill>
            <a:srgbClr val="FBEF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21488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32004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1672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82% de las operaciones presenta rentabilidad Alta y el 48% tiene Prioridad comercial Alta, lo que confirma un negocio saludable con espacio claro para enfocar la gestión comercial en pocos mercados y productos clave.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Análisis Comercial Internacional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mercados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FOB por país de destino (US$)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86200" cy="4572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clave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24028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EE.UU. es el mercado #1 en Valor FOB (US$168,745) y también el de mayor margen promedio (~33%).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España ocupa el 2º lugar en valor, pero concentra 6 de las 15 operaciones pendientes.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5 mercados analizados están parejos en cantidad de operaciones (20 cada uno).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Análisis Comercial Internacional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más importantes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total por producto (US$)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86200" cy="457200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6" name="Shape 3"/>
          <p:cNvSpPr/>
          <p:nvPr/>
        </p:nvSpPr>
        <p:spPr>
          <a:xfrm>
            <a:off x="8092440" y="17830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924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54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especial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4688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estrella: mayor utilidad (US$62,832) y mayor volumen exportado (26,180 unidades).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además US$52,390 en Valor FOB solo hacia EE.UU., su mercado más fuerte.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20624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Miel natural destaca por volumen (24,180 unidades); Aceite de ajonjolí sorprende con la 2ª mayor utilidad pese a menor volumen.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Análisis Comercial Internacional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Rentabilidad y operaciones prioritarias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rentabilidad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74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de 100 operaciones tienen rentabilidad Alta (margen ≥ 30%).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comercial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2011680"/>
            <a:ext cx="4206240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704320" y="1965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640" y="2788920"/>
            <a:ext cx="4030980" cy="3657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529060" y="2743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520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06640" y="3566160"/>
            <a:ext cx="525780" cy="36576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23860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448056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de prioridad Alta combinan mercado estratégico + margen ≥ 30%: son las que la gerencia debe blindar y replicar primero.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Análisis Comercial Internacional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hallazgos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2148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361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 lidera en valor y margen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Valor FOB (US$168,745) y mayor margen promedio (~33%): el mercado más rentable del portafolio.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349240" cy="2148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5544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5361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especial es el producto estrella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945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utilidad y mayor volumen exportado; motor principal de ingresos de la empresa.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49240" cy="2148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0507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concentra riesgo operativo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09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en valor FOB, pero acumula 6 de las 15 operaciones pendientes: requiere seguimiento urgente.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794760"/>
            <a:ext cx="5349240" cy="2148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069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0507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Norteamérica es la región más fuerte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709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US$289,058 en Valor FOB, por encima de Centroamérica (US$232,879) y Europa (US$136,328).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Análisis Comercial Internacional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3A7A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muestra una base sólida y rentable, con oportunidades claras de enfoque comercial.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1325880" y="1828800"/>
            <a:ext cx="9966960" cy="1143000"/>
          </a:xfrm>
          <a:prstGeom prst="rect">
            <a:avLst/>
          </a:prstGeom>
          <a:solidFill>
            <a:srgbClr val="3368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182880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la promoción de Café especial en EE.UU., dado su liderazgo en valor FOB (US$52,390) y margen de utilidad.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40" dirty="0"/>
          </a:p>
        </p:txBody>
      </p:sp>
      <p:sp>
        <p:nvSpPr>
          <p:cNvPr id="11" name="Shape 9"/>
          <p:cNvSpPr/>
          <p:nvPr/>
        </p:nvSpPr>
        <p:spPr>
          <a:xfrm>
            <a:off x="1325880" y="3246120"/>
            <a:ext cx="9966960" cy="1143000"/>
          </a:xfrm>
          <a:prstGeom prst="rect">
            <a:avLst/>
          </a:prstGeom>
          <a:solidFill>
            <a:srgbClr val="3368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554480" y="324612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el seguimiento comercial de las 6 operaciones pendientes con España para no perder el 2º mercado en valor FOB.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40" dirty="0"/>
          </a:p>
        </p:txBody>
      </p:sp>
      <p:sp>
        <p:nvSpPr>
          <p:cNvPr id="15" name="Shape 13"/>
          <p:cNvSpPr/>
          <p:nvPr/>
        </p:nvSpPr>
        <p:spPr>
          <a:xfrm>
            <a:off x="1325880" y="4663440"/>
            <a:ext cx="9966960" cy="1143000"/>
          </a:xfrm>
          <a:prstGeom prst="rect">
            <a:avLst/>
          </a:prstGeom>
          <a:solidFill>
            <a:srgbClr val="3368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54480" y="4663440"/>
            <a:ext cx="9509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el modelo comercial de EE.UU. (mercado estratégico + margen alto) en Guatemala y Costa Rica, donde el margen ya es fuerte pero el valor FOB total es menor.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NicaExport Trading, S.A.  |  Análisis Comercial Internacional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12</cp:revision>
  <dcterms:created xsi:type="dcterms:W3CDTF">2026-09-16T04:46:27Z</dcterms:created>
  <dcterms:modified xsi:type="dcterms:W3CDTF">2026-09-16T05:00:01Z</dcterms:modified>
</cp:coreProperties>
</file>